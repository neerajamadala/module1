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usefulness (out of 5)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Personalization</c:v>
                </c:pt>
                <c:pt idx="1">
                  <c:v>Efficiency</c:v>
                </c:pt>
                <c:pt idx="2">
                  <c:v>Accessibility</c:v>
                </c:pt>
                <c:pt idx="3">
                  <c:v>Feedback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Illustrative score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731520"/>
            <a:ext cx="2103120" cy="2103120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2011680"/>
            <a:ext cx="1371600" cy="1371600"/>
          </a:xfrm>
          <a:prstGeom prst="ellipse">
            <a:avLst/>
          </a:prstGeom>
          <a:solidFill>
            <a:srgbClr val="EF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3108960"/>
            <a:ext cx="914400" cy="914400"/>
          </a:xfrm>
          <a:prstGeom prst="ellipse">
            <a:avLst/>
          </a:prstGeom>
          <a:solidFill>
            <a:srgbClr val="4A7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7132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 Display"/>
              </a:rPr>
              <a:t>ARTIFICIAL INTELLIGENCE
IN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E0F1F8"/>
                </a:solidFill>
                <a:latin typeface="Aptos"/>
              </a:rPr>
              <a:t>Applications • Benefits • Challenges • Responsible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A concise overview of how AI can support teaching and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978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ECDDB"/>
                </a:solidFill>
                <a:latin typeface="Aptos"/>
              </a:rPr>
              <a:t>Prepared with AI-assisted presentation design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B304E"/>
                </a:solidFill>
                <a:latin typeface="Aptos Display"/>
              </a:rPr>
              <a:t>Where AI Is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D7C"/>
                </a:solidFill>
                <a:latin typeface="Aptos"/>
              </a:rPr>
              <a:t>Examples of AI tools in everyday educational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329184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04E"/>
                </a:solidFill>
                <a:latin typeface="Aptos"/>
              </a:rPr>
              <a:t>PERSONALIZED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3136392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1"/>
                </a:solidFill>
                <a:latin typeface="Aptos"/>
              </a:rPr>
              <a:t>• Adaptive practice and quizzes
• Explanations tailored to a learner’s pace
• Extra examples for difficult concepts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73152" cy="3291840"/>
          </a:xfrm>
          <a:prstGeom prst="rect">
            <a:avLst/>
          </a:prstGeom>
          <a:solidFill>
            <a:srgbClr val="EF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933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04E"/>
                </a:solidFill>
                <a:latin typeface="Aptos"/>
              </a:rPr>
              <a:t>TEACHER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95728"/>
            <a:ext cx="3136392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1"/>
                </a:solidFill>
                <a:latin typeface="Aptos"/>
              </a:rPr>
              <a:t>• Draft lesson plans and worksheets
• Generate question banks
• Summarize feedback and learning gaps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828800"/>
            <a:ext cx="73152" cy="3291840"/>
          </a:xfrm>
          <a:prstGeom prst="rect">
            <a:avLst/>
          </a:prstGeom>
          <a:solidFill>
            <a:srgbClr val="4A7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9933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04E"/>
                </a:solidFill>
                <a:latin typeface="Aptos"/>
              </a:rPr>
              <a:t>ACCESSIBILITY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395728"/>
            <a:ext cx="3136392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1"/>
                </a:solidFill>
                <a:latin typeface="Aptos"/>
              </a:rPr>
              <a:t>• Speech-to-text and text-to-speech
• Translation and simplified text
• Alternative ways to access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04E"/>
                </a:solidFill>
                <a:latin typeface="Aptos"/>
              </a:rPr>
              <a:t>Best use: let AI assist learning and preparation while educators guide, verify, and support students.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F6D7C"/>
                </a:solidFill>
                <a:latin typeface="Aptos"/>
              </a:rPr>
              <a:t>ARTIFICIAL INTELLIGENCE IN EDUCATION  •  2/5</a:t>
            </a:r>
          </a:p>
        </p:txBody>
      </p:sp>
    </p:spTree>
  </p:cSld>
  <p:clrMapOvr>
    <a:masterClrMapping/>
  </p:clrMapOvr>
  <p:transition spd="med" advClick="1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B304E"/>
                </a:solidFill>
                <a:latin typeface="Aptos Display"/>
              </a:rPr>
              <a:t>Potential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D7C"/>
                </a:solidFill>
                <a:latin typeface="Aptos"/>
              </a:rPr>
              <a:t>Illustrative ratings for a classroom discussion — not measured research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04E"/>
                </a:solidFill>
                <a:latin typeface="Aptos"/>
              </a:rPr>
              <a:t>How AI may help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23160"/>
            <a:ext cx="347472" cy="347472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41448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0487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304E"/>
                </a:solidFill>
                <a:latin typeface="Aptos"/>
              </a:rPr>
              <a:t>Personalization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404872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1"/>
                </a:solidFill>
                <a:latin typeface="Aptos"/>
              </a:rPr>
              <a:t>Adjusts practice to learner needs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72968"/>
            <a:ext cx="347472" cy="347472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91256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5467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304E"/>
                </a:solidFill>
                <a:latin typeface="Aptos"/>
              </a:rPr>
              <a:t>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54679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1"/>
                </a:solidFill>
                <a:latin typeface="Aptos"/>
              </a:rPr>
              <a:t>Can reduce repetitive preparation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922776"/>
            <a:ext cx="347472" cy="347472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41063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044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304E"/>
                </a:solidFill>
                <a:latin typeface="Aptos"/>
              </a:rPr>
              <a:t>Accessibility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90448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1"/>
                </a:solidFill>
                <a:latin typeface="Aptos"/>
              </a:rPr>
              <a:t>Offers alternate ways to engage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72583"/>
            <a:ext cx="347472" cy="347472"/>
          </a:xfrm>
          <a:prstGeom prst="ellipse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90871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5429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304E"/>
                </a:solidFill>
                <a:latin typeface="Aptos"/>
              </a:rPr>
              <a:t>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654296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1"/>
                </a:solidFill>
                <a:latin typeface="Aptos"/>
              </a:rPr>
              <a:t>Helps generate quick practice feedback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5577840" y="1828800"/>
          <a:ext cx="589788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F6D7C"/>
                </a:solidFill>
                <a:latin typeface="Aptos"/>
              </a:rPr>
              <a:t>ARTIFICIAL INTELLIGENCE IN EDUCATION  •  3/5</a:t>
            </a:r>
          </a:p>
        </p:txBody>
      </p:sp>
    </p:spTree>
  </p:cSld>
  <p:clrMapOvr>
    <a:masterClrMapping/>
  </p:clrMapOvr>
  <p:transition spd="med" advClick="1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B304E"/>
                </a:solidFill>
                <a:latin typeface="Aptos Display"/>
              </a:rPr>
              <a:t>Risks and Responsible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D7C"/>
                </a:solidFill>
                <a:latin typeface="Aptos"/>
              </a:rPr>
              <a:t>AI output should be checked, protected, and used transparently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3474720"/>
          </a:xfrm>
          <a:prstGeom prst="rect">
            <a:avLst/>
          </a:prstGeom>
          <a:solidFill>
            <a:srgbClr val="C7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04E"/>
                </a:solidFill>
                <a:latin typeface="Aptos"/>
              </a:rPr>
              <a:t>KEY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4828032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1"/>
                </a:solidFill>
                <a:latin typeface="Aptos"/>
              </a:rPr>
              <a:t>• Inaccurate or fabricated answers
• Bias or unfair recommendations
• Student privacy and data protection
• Overdependence that limits independent thinking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73152" cy="3474720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933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04E"/>
                </a:solidFill>
                <a:latin typeface="Aptos"/>
              </a:rPr>
              <a:t>PRACTICAL SAFEGUARDS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95728"/>
            <a:ext cx="4828032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1"/>
                </a:solidFill>
                <a:latin typeface="Aptos"/>
              </a:rPr>
              <a:t>• Verify important claims with reliable sources
• Avoid entering sensitive personal data
• Follow institutional AI-use rules
• Keep teachers and students accountable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04E"/>
                </a:solidFill>
                <a:latin typeface="Aptos"/>
              </a:rPr>
              <a:t>Principle: AI can support decisions, but people remain responsible for the final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F6D7C"/>
                </a:solidFill>
                <a:latin typeface="Aptos"/>
              </a:rPr>
              <a:t>ARTIFICIAL INTELLIGENCE IN EDUCATION  •  4/5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0F1F8"/>
                </a:solidFill>
                <a:latin typeface="Aptos"/>
              </a:rPr>
              <a:t>Use AI as a learning partner, not as an unquestioned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FB441"/>
                </a:solidFill>
                <a:latin typeface="Aptos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Use purposefully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2880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0F1F8"/>
                </a:solidFill>
                <a:latin typeface="Aptos"/>
              </a:rPr>
              <a:t>Choose AI tools that serve a clear learning objective.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FB441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97480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Verify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69748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0F1F8"/>
                </a:solidFill>
                <a:latin typeface="Aptos"/>
              </a:rPr>
              <a:t>Check facts, examples, and references before relying on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FB441"/>
                </a:solidFill>
                <a:latin typeface="Aptos Display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Protect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56616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0F1F8"/>
                </a:solidFill>
                <a:latin typeface="Aptos"/>
              </a:rPr>
              <a:t>Keep personal and confidential information out of prompts.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FB441"/>
                </a:solidFill>
                <a:latin typeface="Aptos Display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34840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Keep humans involved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43484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0F1F8"/>
                </a:solidFill>
                <a:latin typeface="Aptos"/>
              </a:rPr>
              <a:t>Combine AI assistance with educator guidance and student judgment.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669280"/>
            <a:ext cx="10332720" cy="18288"/>
          </a:xfrm>
          <a:prstGeom prst="rect">
            <a:avLst/>
          </a:prstGeom>
          <a:solidFill>
            <a:srgbClr val="0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7044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E0F1F8"/>
                </a:solidFill>
                <a:latin typeface="Aptos"/>
              </a:rPr>
              <a:t>ARTIFICIAL INTELLIGENCE IN EDUCATION  •  5/5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